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731520"/>
            <a:ext cx="2286000" cy="2286000"/>
          </a:xfrm>
          <a:prstGeom prst="ellipse">
            <a:avLst/>
          </a:prstGeom>
          <a:solidFill>
            <a:srgbClr val="1E5FAD">
              <a:alpha val="30000"/>
            </a:srgbClr>
          </a:solidFill>
          <a:ln w="12700">
            <a:solidFill>
              <a:srgbClr val="1E5FA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457200"/>
            <a:ext cx="1645920" cy="1645920"/>
          </a:xfrm>
          <a:prstGeom prst="ellipse">
            <a:avLst/>
          </a:prstGeom>
          <a:solidFill>
            <a:srgbClr val="F47920">
              <a:alpha val="20000"/>
            </a:srgbClr>
          </a:solidFill>
          <a:ln w="12700">
            <a:solidFill>
              <a:srgbClr val="F4792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502920"/>
            <a:ext cx="594360" cy="594360"/>
          </a:xfrm>
          <a:prstGeom prst="ellipse">
            <a:avLst/>
          </a:prstGeom>
          <a:solidFill>
            <a:srgbClr val="1E5FAD">
              <a:alpha val="50000"/>
            </a:srgbClr>
          </a:solidFill>
          <a:ln w="12700">
            <a:solidFill>
              <a:srgbClr val="1E5FAD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752" y="566928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77640" y="502920"/>
            <a:ext cx="594360" cy="594360"/>
          </a:xfrm>
          <a:prstGeom prst="ellipse">
            <a:avLst/>
          </a:prstGeom>
          <a:solidFill>
            <a:srgbClr val="1E5FAD">
              <a:alpha val="50000"/>
            </a:srgbClr>
          </a:solidFill>
          <a:ln w="12700">
            <a:solidFill>
              <a:srgbClr val="1E5FAD">
                <a:alpha val="3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566928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40680" y="502920"/>
            <a:ext cx="594360" cy="594360"/>
          </a:xfrm>
          <a:prstGeom prst="ellipse">
            <a:avLst/>
          </a:prstGeom>
          <a:solidFill>
            <a:srgbClr val="1E5FAD">
              <a:alpha val="50000"/>
            </a:srgbClr>
          </a:solidFill>
          <a:ln w="12700">
            <a:solidFill>
              <a:srgbClr val="1E5FAD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566928"/>
            <a:ext cx="411480" cy="4114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903720" y="502920"/>
            <a:ext cx="594360" cy="594360"/>
          </a:xfrm>
          <a:prstGeom prst="ellipse">
            <a:avLst/>
          </a:prstGeom>
          <a:solidFill>
            <a:srgbClr val="1E5FAD">
              <a:alpha val="50000"/>
            </a:srgbClr>
          </a:solidFill>
          <a:ln w="12700">
            <a:solidFill>
              <a:srgbClr val="1E5FAD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56692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Accessibility of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Services</a:t>
            </a:r>
            <a:endParaRPr lang="en-US" sz="3600" dirty="0"/>
          </a:p>
        </p:txBody>
      </p:sp>
      <p:sp>
        <p:nvSpPr>
          <p:cNvPr id="17" name="Text 11"/>
          <p:cNvSpPr/>
          <p:nvPr/>
        </p:nvSpPr>
        <p:spPr>
          <a:xfrm>
            <a:off x="457200" y="2487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AI Solutions</a:t>
            </a:r>
            <a:endParaRPr lang="en-US" sz="3000" dirty="0"/>
          </a:p>
        </p:txBody>
      </p:sp>
      <p:sp>
        <p:nvSpPr>
          <p:cNvPr id="18" name="Shape 12"/>
          <p:cNvSpPr/>
          <p:nvPr/>
        </p:nvSpPr>
        <p:spPr>
          <a:xfrm>
            <a:off x="1828800" y="3200400"/>
            <a:ext cx="5486400" cy="548640"/>
          </a:xfrm>
          <a:prstGeom prst="rect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F47920">
                <a:alpha val="5000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828800" y="321868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Voice-based AI system to simplify government form filling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[Your Team Name]  |  Institute: [Your Institution]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3444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234440"/>
            <a:ext cx="2560320" cy="10972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5880" y="1435608"/>
            <a:ext cx="713232" cy="713232"/>
          </a:xfrm>
          <a:prstGeom prst="ellipse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F47920">
                <a:alpha val="7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545336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" y="22585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48640" y="27157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struggle with forms not in their native language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154680" y="123444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54680" y="1234440"/>
            <a:ext cx="2560320" cy="10972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069080" y="1435608"/>
            <a:ext cx="713232" cy="713232"/>
          </a:xfrm>
          <a:prstGeom prst="ellipse">
            <a:avLst/>
          </a:prstGeom>
          <a:solidFill>
            <a:srgbClr val="1E5FAD">
              <a:alpha val="85000"/>
            </a:srgbClr>
          </a:solidFill>
          <a:ln w="12700">
            <a:solidFill>
              <a:srgbClr val="1E5FAD">
                <a:alpha val="7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545336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64408" y="22585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Literacy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291840" y="27157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lack skills to navigate digital government portals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897880" y="123444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97880" y="1234440"/>
            <a:ext cx="256032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12280" y="1435608"/>
            <a:ext cx="713232" cy="713232"/>
          </a:xfrm>
          <a:prstGeom prst="ellipse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>
                <a:alpha val="7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54533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07608" y="22585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Form Structures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035040" y="27157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are lengthy, confusing, and prone to user errors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11480" y="4005072"/>
            <a:ext cx="8321040" cy="713232"/>
          </a:xfrm>
          <a:prstGeom prst="rect">
            <a:avLst/>
          </a:prstGeom>
          <a:solidFill>
            <a:srgbClr val="FEF0E6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40416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Result: Errors, delays, and exclusion from essential government 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to Solve the Problem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88720"/>
            <a:ext cx="3200400" cy="3566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188720"/>
            <a:ext cx="3200400" cy="91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173736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Voice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2920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Speech-to-Text &amp; OCR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94760" y="1207008"/>
            <a:ext cx="4937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94760" y="1207008"/>
            <a:ext cx="64008" cy="8412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31920" y="1371600"/>
            <a:ext cx="493776" cy="493776"/>
          </a:xfrm>
          <a:prstGeom prst="ellipse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43560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3712" y="1298448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Interaction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53712" y="1627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speak naturally — no typing needed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2103120"/>
            <a:ext cx="4937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794760" y="2103120"/>
            <a:ext cx="64008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931920" y="2267712"/>
            <a:ext cx="493776" cy="493776"/>
          </a:xfrm>
          <a:prstGeom prst="ellipse">
            <a:avLst/>
          </a:prstGeom>
          <a:solidFill>
            <a:srgbClr val="1A3A6B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3317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53712" y="219456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Support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53712" y="25237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and more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794760" y="2999232"/>
            <a:ext cx="4937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794760" y="2999232"/>
            <a:ext cx="64008" cy="8412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31920" y="3163824"/>
            <a:ext cx="493776" cy="493776"/>
          </a:xfrm>
          <a:prstGeom prst="ellipse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322783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309067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Speech to Structured Data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3712" y="34198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form fields intelligently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794760" y="3895344"/>
            <a:ext cx="4937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94760" y="3895344"/>
            <a:ext cx="64008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31920" y="4059936"/>
            <a:ext cx="493776" cy="493776"/>
          </a:xfrm>
          <a:prstGeom prst="ellipse">
            <a:avLst/>
          </a:prstGeom>
          <a:solidFill>
            <a:srgbClr val="1A3A6B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412394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53712" y="398678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Government Access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553712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all literacy levels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Phase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6459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80160"/>
            <a:ext cx="640080" cy="640080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" y="1920240"/>
            <a:ext cx="73152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34440" y="1207008"/>
            <a:ext cx="74980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34440" y="1207008"/>
            <a:ext cx="64008" cy="78638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127101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Real-World Pain Points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17320" y="16002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citizens struggling with form-filling in public service offices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2194560"/>
            <a:ext cx="640080" cy="640080"/>
          </a:xfrm>
          <a:prstGeom prst="ellipse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" y="2834640"/>
            <a:ext cx="73152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34440" y="2121408"/>
            <a:ext cx="74980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234440" y="2121408"/>
            <a:ext cx="64008" cy="786384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17320" y="218541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AI + Voice + OCR Solutions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417320" y="2514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technology stack combining speech recognition, OCR, and AI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310896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94944" y="3749040"/>
            <a:ext cx="73152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34440" y="3035808"/>
            <a:ext cx="74980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234440" y="3035808"/>
            <a:ext cx="64008" cy="7863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17320" y="309981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Idea: VoiceForm AI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417320" y="34290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Voice-guided form filling system — inclusive, simple, multi-lingual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11480" y="4023360"/>
            <a:ext cx="640080" cy="64008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234440" y="3950208"/>
            <a:ext cx="74980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234440" y="3950208"/>
            <a:ext cx="64008" cy="7863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17320" y="401421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Inclusivity &amp; Ease of Use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417320" y="43434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low-literacy users across all age groups and regions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Phase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16459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88720"/>
            <a:ext cx="37490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88720"/>
            <a:ext cx="3749040" cy="9144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353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UI Prototype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7647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interactive flow simulating real usage scenarios for government form access.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2578608"/>
            <a:ext cx="256032" cy="25603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5420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035808"/>
            <a:ext cx="256032" cy="25603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9992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Upload (PDF / Image)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" y="3493008"/>
            <a:ext cx="256032" cy="25603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34564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OCR-based Field Detection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3950208"/>
            <a:ext cx="256032" cy="25603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Interface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89120" y="1234440"/>
            <a:ext cx="1783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89120" y="1234440"/>
            <a:ext cx="1783080" cy="8229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19472" y="1435608"/>
            <a:ext cx="713232" cy="713232"/>
          </a:xfrm>
          <a:prstGeom prst="ellipse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493776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80560" y="22585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45352" y="1234440"/>
            <a:ext cx="1783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45352" y="1234440"/>
            <a:ext cx="1783080" cy="8229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75704" y="1435608"/>
            <a:ext cx="713232" cy="713232"/>
          </a:xfrm>
          <a:prstGeom prst="ellipse">
            <a:avLst/>
          </a:prstGeom>
          <a:solidFill>
            <a:srgbClr val="1E5FAD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554480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36792" y="22585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389120" y="2953512"/>
            <a:ext cx="1783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389120" y="2953512"/>
            <a:ext cx="178308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919472" y="3154680"/>
            <a:ext cx="713232" cy="713232"/>
          </a:xfrm>
          <a:prstGeom prst="ellipse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73552"/>
            <a:ext cx="493776" cy="49377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480560" y="39776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Field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245352" y="2953512"/>
            <a:ext cx="1783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245352" y="2953512"/>
            <a:ext cx="1783080" cy="822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775704" y="3154680"/>
            <a:ext cx="713232" cy="713232"/>
          </a:xfrm>
          <a:prstGeom prst="ellipse">
            <a:avLst/>
          </a:prstGeom>
          <a:solidFill>
            <a:srgbClr val="1A3A6B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273552"/>
            <a:ext cx="493776" cy="4937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336792" y="39776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115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536192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536192"/>
            <a:ext cx="2651760" cy="8229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664208"/>
            <a:ext cx="530352" cy="530352"/>
          </a:xfrm>
          <a:prstGeom prst="ellipse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6479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6152" y="1664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16152" y="2011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processing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46120" y="1536192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46120" y="1536192"/>
            <a:ext cx="2651760" cy="8229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01568" y="1664208"/>
            <a:ext cx="530352" cy="530352"/>
          </a:xfrm>
          <a:prstGeom prst="ellipse">
            <a:avLst/>
          </a:prstGeom>
          <a:solidFill>
            <a:srgbClr val="1E5FAD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7647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50792" y="1664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Engine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050792" y="2011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 extraction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0760" y="1536192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80760" y="1536192"/>
            <a:ext cx="265176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36208" y="1664208"/>
            <a:ext cx="530352" cy="530352"/>
          </a:xfrm>
          <a:prstGeom prst="ellipse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76479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85432" y="1664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Mobile UI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885432" y="2011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user interface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114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11480" y="3218688"/>
            <a:ext cx="1188720" cy="10789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10128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627632" y="3538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783080" y="3218688"/>
            <a:ext cx="1188720" cy="1078992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3310128"/>
            <a:ext cx="530352" cy="5303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828800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999232" y="3538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3154680" y="3218688"/>
            <a:ext cx="1188720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310128"/>
            <a:ext cx="530352" cy="53035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200400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370832" y="3538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→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4526280" y="3218688"/>
            <a:ext cx="1188720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310128"/>
            <a:ext cx="530352" cy="53035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572000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5742432" y="3538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5897880" y="3218688"/>
            <a:ext cx="1188720" cy="10789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310128"/>
            <a:ext cx="530352" cy="53035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943600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45" name="Text 34"/>
          <p:cNvSpPr/>
          <p:nvPr/>
        </p:nvSpPr>
        <p:spPr>
          <a:xfrm>
            <a:off x="7114032" y="3538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→</a:t>
            </a:r>
            <a:endParaRPr lang="en-US" sz="1300" dirty="0"/>
          </a:p>
        </p:txBody>
      </p:sp>
      <p:sp>
        <p:nvSpPr>
          <p:cNvPr id="46" name="Shape 35"/>
          <p:cNvSpPr/>
          <p:nvPr/>
        </p:nvSpPr>
        <p:spPr>
          <a:xfrm>
            <a:off x="7269480" y="3218688"/>
            <a:ext cx="1188720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3310128"/>
            <a:ext cx="530352" cy="53035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315200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88720"/>
            <a:ext cx="3840480" cy="35478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188720"/>
            <a:ext cx="3840480" cy="91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63040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944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94360" y="340156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multiple real-world scenarios to ensure reliability and accessibility.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94360" y="4251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improvements for better user experience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434840" y="1207008"/>
            <a:ext cx="44805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34840" y="1207008"/>
            <a:ext cx="64008" cy="105156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1463040"/>
            <a:ext cx="530352" cy="530352"/>
          </a:xfrm>
          <a:prstGeom prst="ellipse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5448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Accuracy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03520" y="163677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tested across accents and dialects for reliable transcription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434840" y="2386584"/>
            <a:ext cx="44805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434840" y="2386584"/>
            <a:ext cx="64008" cy="105156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17720" y="2642616"/>
            <a:ext cx="530352" cy="530352"/>
          </a:xfrm>
          <a:prstGeom prst="ellipse">
            <a:avLst/>
          </a:prstGeom>
          <a:solidFill>
            <a:srgbClr val="1E5FAD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73405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4780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Detection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03520" y="281635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tested on varied form formats — printed, handwritten, and scanned PDFs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3566160"/>
            <a:ext cx="44805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3566160"/>
            <a:ext cx="64008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7720" y="3822192"/>
            <a:ext cx="530352" cy="530352"/>
          </a:xfrm>
          <a:prstGeom prst="ellipse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E0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91363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3657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Flow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303520" y="399592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usability tested; refined based on real user feedback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434840" y="4315968"/>
            <a:ext cx="4480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38912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83480" y="43708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significantly based on real feedback for accessibility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VoiceForm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Overview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1920240" cy="155448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1920240" cy="91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554480"/>
            <a:ext cx="749808" cy="749808"/>
          </a:xfrm>
          <a:prstGeom prst="ellipse">
            <a:avLst/>
          </a:prstGeom>
          <a:solidFill>
            <a:srgbClr val="F47920">
              <a:alpha val="75000"/>
            </a:srgbClr>
          </a:solidFill>
          <a:ln w="12700">
            <a:solidFill>
              <a:srgbClr val="F47920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673352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" y="23957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Scan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4632" y="27066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scan government forms instantly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78608" y="1371600"/>
            <a:ext cx="1920240" cy="155448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78608" y="1371600"/>
            <a:ext cx="1920240" cy="9144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1554480"/>
            <a:ext cx="749808" cy="749808"/>
          </a:xfrm>
          <a:prstGeom prst="ellipse">
            <a:avLst/>
          </a:prstGeom>
          <a:solidFill>
            <a:srgbClr val="1E5FAD">
              <a:alpha val="75000"/>
            </a:srgbClr>
          </a:solidFill>
          <a:ln w="12700">
            <a:solidFill>
              <a:srgbClr val="1E5FAD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673352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51760" y="23957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Detection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651760" y="27066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and identify all form fields via AI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45736" y="1371600"/>
            <a:ext cx="1920240" cy="155448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5736" y="1371600"/>
            <a:ext cx="19202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21808" y="1554480"/>
            <a:ext cx="749808" cy="749808"/>
          </a:xfrm>
          <a:prstGeom prst="ellipse">
            <a:avLst/>
          </a:prstGeom>
          <a:solidFill>
            <a:srgbClr val="2E7D32">
              <a:alpha val="75000"/>
            </a:srgbClr>
          </a:solidFill>
          <a:ln w="12700">
            <a:solidFill>
              <a:srgbClr val="2E7D32">
                <a:alpha val="6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73352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18888" y="23957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Fill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818888" y="27066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fields using voice in your native language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912864" y="1371600"/>
            <a:ext cx="1920240" cy="155448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12864" y="1371600"/>
            <a:ext cx="1920240" cy="914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88936" y="1554480"/>
            <a:ext cx="749808" cy="749808"/>
          </a:xfrm>
          <a:prstGeom prst="ellipse">
            <a:avLst/>
          </a:prstGeom>
          <a:solidFill>
            <a:srgbClr val="F47920">
              <a:alpha val="75000"/>
            </a:srgbClr>
          </a:solidFill>
          <a:ln w="12700">
            <a:solidFill>
              <a:srgbClr val="F47920">
                <a:alpha val="6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673352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86016" y="23957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986016" y="27066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auto-filled form and submit with ease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11480" y="3127248"/>
            <a:ext cx="832104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11480" y="3127248"/>
            <a:ext cx="64008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4360" y="3200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737360" y="32004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simpler, and inclusive access to government services for every citizen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1005840" y="3950208"/>
            <a:ext cx="2103120" cy="82296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05840" y="4773168"/>
            <a:ext cx="2103120" cy="6400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05840" y="39684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1005840" y="4379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Form Filling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657600" y="3950208"/>
            <a:ext cx="2103120" cy="82296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657600" y="4773168"/>
            <a:ext cx="210312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657600" y="39684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400" dirty="0"/>
          </a:p>
        </p:txBody>
      </p:sp>
      <p:sp>
        <p:nvSpPr>
          <p:cNvPr id="41" name="Text 35"/>
          <p:cNvSpPr/>
          <p:nvPr/>
        </p:nvSpPr>
        <p:spPr>
          <a:xfrm>
            <a:off x="3657600" y="4379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309360" y="3950208"/>
            <a:ext cx="2103120" cy="822960"/>
          </a:xfrm>
          <a:prstGeom prst="rect">
            <a:avLst/>
          </a:prstGeom>
          <a:solidFill>
            <a:srgbClr val="1E3A5F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309360" y="4773168"/>
            <a:ext cx="2103120" cy="640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309360" y="39684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45" name="Text 39"/>
          <p:cNvSpPr/>
          <p:nvPr/>
        </p:nvSpPr>
        <p:spPr>
          <a:xfrm>
            <a:off x="6309360" y="4379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 Process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Accessibility of Government Services Through AI Solutions</dc:title>
  <dc:subject>PptxGenJS Presentation</dc:subject>
  <dc:creator>PptxGenJS</dc:creator>
  <cp:lastModifiedBy>PptxGenJS</cp:lastModifiedBy>
  <cp:revision>1</cp:revision>
  <dcterms:created xsi:type="dcterms:W3CDTF">2026-04-08T13:38:06Z</dcterms:created>
  <dcterms:modified xsi:type="dcterms:W3CDTF">2026-04-08T13:38:06Z</dcterms:modified>
</cp:coreProperties>
</file>